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Pipeline CI/CD — ToDo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B8C0C8"/>
                </a:solidFill>
                <a:latin typeface="Calibri"/>
              </a:rPr>
              <a:t>Fluxo dos workflows do GitHub Actions até o Azure (staging → hml → production)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0C8"/>
                </a:solidFill>
                <a:latin typeface="Calibri"/>
              </a:rPr>
              <a:t>Gerado a partir de .github/workflows/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Visão geral: da branch ao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41832"/>
            <a:ext cx="11247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AB4F8"/>
                </a:solidFill>
                <a:latin typeface="Calibri"/>
              </a:rPr>
              <a:t>deploy-staging.yml  —  push em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96312"/>
            <a:ext cx="11247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B46D"/>
                </a:solidFill>
                <a:latin typeface="Calibri"/>
              </a:rPr>
              <a:t>deploy-hml.yml  —  push em hml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50791"/>
            <a:ext cx="11247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1C99C"/>
                </a:solidFill>
                <a:latin typeface="Calibri"/>
              </a:rPr>
              <a:t>deploy-production.yml  —  push em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2468880" cy="868680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Push em staging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(merge de PR)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2468880" cy="8686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Build &amp; Test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jobs: backend,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2468880" cy="86868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Deploy (needs OK)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App Service + Static Web App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(staging)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234440"/>
            <a:ext cx="2468880" cy="868680"/>
          </a:xfrm>
          <a:prstGeom prst="roundRect">
            <a:avLst/>
          </a:prstGeom>
          <a:solidFill>
            <a:srgbClr val="E6D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Auto-PR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staging → hml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150876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760720" y="150876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686800" y="150876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2788920"/>
            <a:ext cx="2468880" cy="868680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Push em hml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(merge de PR)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2468880" cy="8686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Build &amp; Test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jobs: backend, frontend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788920"/>
            <a:ext cx="2468880" cy="868680"/>
          </a:xfrm>
          <a:prstGeom prst="roundRect">
            <a:avLst/>
          </a:prstGeom>
          <a:solidFill>
            <a:srgbClr val="FD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Deploy (needs OK)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App Service + Static Web App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(hml)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88920"/>
            <a:ext cx="2468880" cy="868680"/>
          </a:xfrm>
          <a:prstGeom prst="roundRect">
            <a:avLst/>
          </a:prstGeom>
          <a:solidFill>
            <a:srgbClr val="E6D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Auto-PR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hml → main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2834640" y="3063239"/>
            <a:ext cx="457200" cy="320040"/>
          </a:xfrm>
          <a:prstGeom prst="lef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5760720" y="3063239"/>
            <a:ext cx="457200" cy="320040"/>
          </a:xfrm>
          <a:prstGeom prst="lef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8686800" y="3063239"/>
            <a:ext cx="457200" cy="320040"/>
          </a:xfrm>
          <a:prstGeom prst="lef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4343400"/>
            <a:ext cx="2468880" cy="868680"/>
          </a:xfrm>
          <a:prstGeom prst="round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Push em main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(merge de PR)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343400"/>
            <a:ext cx="2468880" cy="8686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Build &amp; Test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jobs: backend,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43400"/>
            <a:ext cx="2468880" cy="868680"/>
          </a:xfrm>
          <a:prstGeom prst="roundRect">
            <a:avLst/>
          </a:prstGeom>
          <a:solidFill>
            <a:srgbClr val="E6D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Aprovação manual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GitHub Environment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'production' (required reviewers)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343400"/>
            <a:ext cx="2468880" cy="868680"/>
          </a:xfrm>
          <a:prstGeom prst="roundRect">
            <a:avLst/>
          </a:prstGeom>
          <a:solidFill>
            <a:srgbClr val="D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02428"/>
                </a:solidFill>
                <a:latin typeface="Calibri"/>
              </a:rPr>
              <a:t>Deploy (needs OK)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App Service + Static Web App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(production)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834640" y="461772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760720" y="461772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686800" y="4617720"/>
            <a:ext cx="457200" cy="32004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149840" y="2121408"/>
            <a:ext cx="457200" cy="649224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1371600" y="3675887"/>
            <a:ext cx="457200" cy="649224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deploy.yml — workflow reutilizável (workflow_call)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C0C8"/>
                </a:solidFill>
                <a:latin typeface="Calibri"/>
              </a:rPr>
              <a:t>Chamado pelo job 'deploy' de cada deploy-*.yml, recebe: environment, backend_app_name, acr_name, api_url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17320"/>
            <a:ext cx="3017520" cy="640080"/>
          </a:xfrm>
          <a:prstGeom prst="round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02428"/>
                </a:solidFill>
                <a:latin typeface="Calibri"/>
              </a:rPr>
              <a:t>workflow_call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(inputs + secrets do ambiente)</a:t>
            </a:r>
          </a:p>
        </p:txBody>
      </p:sp>
      <p:sp>
        <p:nvSpPr>
          <p:cNvPr id="5" name="Down Arrow 4"/>
          <p:cNvSpPr/>
          <p:nvPr/>
        </p:nvSpPr>
        <p:spPr>
          <a:xfrm>
            <a:off x="3291840" y="2148840"/>
            <a:ext cx="365760" cy="457200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8503920" y="2148840"/>
            <a:ext cx="365760" cy="457200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4206240" cy="54864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job: deploy-backend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20624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1. actions/checkout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2. azure/login (Service Principal)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3. az acr login (ACR)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4. docker build + push da imagem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   (tag :environment e :sha)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5. azure/webapps-deploy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   → App Service (backend_app_name)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6. az logout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97480"/>
            <a:ext cx="4206240" cy="548640"/>
          </a:xfrm>
          <a:prstGeom prst="roundRect">
            <a:avLst/>
          </a:prstGeom>
          <a:solidFill>
            <a:srgbClr val="FD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job: deploy-frontend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91840"/>
            <a:ext cx="420624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1. actions/checkout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2. actions/setup-node (v20)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3. npm ci (frontend/)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4. npm run build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   (VITE_API_URL = api_url)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5. Azure/static-web-apps-deploy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   action: upload → app_location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   frontend/dist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8C0C8"/>
                </a:solidFill>
                <a:latin typeface="Calibri"/>
              </a:rPr>
              <a:t>Os dois jobs rodam em paralelo; cada um usa environment: &lt;staging|hml|production&gt; para resolver os secrets do GitHub Environment correspondente.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infra.yml — provisionamento manual (Terraform)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C0C8"/>
                </a:solidFill>
                <a:latin typeface="Calibri"/>
              </a:rPr>
              <a:t>Não faz parte do fluxo automático de deploy — disparo manual (workflow_dispatch)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291840" cy="1005840"/>
          </a:xfrm>
          <a:prstGeom prst="round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02428"/>
                </a:solidFill>
                <a:latin typeface="Calibri"/>
              </a:rPr>
              <a:t>Trigger manual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workflow_dispatch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stack: shared|staging|hml|production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action: plan|apply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1874519"/>
            <a:ext cx="457200" cy="36576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108960" cy="1005840"/>
          </a:xfrm>
          <a:prstGeom prst="roundRect">
            <a:avLst/>
          </a:prstGeom>
          <a:solidFill>
            <a:srgbClr val="E6D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02428"/>
                </a:solidFill>
                <a:latin typeface="Calibri"/>
              </a:rPr>
              <a:t>terraform init/plan/apply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backend remoto (Storage Account)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key = &lt;stack&gt;/terraform.tfstate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8120" y="1874519"/>
            <a:ext cx="457200" cy="36576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554480"/>
            <a:ext cx="3108960" cy="1005840"/>
          </a:xfrm>
          <a:prstGeom prst="roundRect">
            <a:avLst/>
          </a:prstGeom>
          <a:solidFill>
            <a:srgbClr val="D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02428"/>
                </a:solidFill>
                <a:latin typeface="Calibri"/>
              </a:rPr>
              <a:t>Recursos Azure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infra/shared → RG + ACR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infra/environments → App Service</a:t>
            </a:r>
          </a:p>
          <a:p>
            <a:pPr algn="ctr"/>
            <a:r>
              <a:rPr sz="1000" b="0">
                <a:solidFill>
                  <a:srgbClr val="202428"/>
                </a:solidFill>
                <a:latin typeface="Calibri"/>
              </a:rPr>
              <a:t>+ Static Web App por 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4B46D"/>
                </a:solidFill>
                <a:latin typeface="Calibri"/>
              </a:rPr>
              <a:t>Ordem obrigatória: 1) stack=shared (apply)  →  2) stack=staging, depois hml, depois production (cada um depende do output do 'shared').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064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Passos manuais fora do pipeline (detalhes em docs/pendencias-manuais.md):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•  Criar Service Principal no Azure e cadastrar AZURE_CLIENT_ID / CLIENT_SECRET / TENANT_ID / SUBSCRIPTION_ID como GitHub Secrets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•  Criar a Storage Account do remote state do Terraform (uma vez) e as GitHub Variables TFSTATE_*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•  Criar os GitHub Environments: shared, staging, hml, production (com required reviewers em production)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•  Após cada apply, pegar o output static_web_app_api_key e cadastrar como secret AZURE_STATIC_WEB_APPS_API_TOKEN do respectivo Environment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Calibri"/>
              </a:rPr>
              <a:t>•  Atualizar CORS (appsettings.*.json) com a URL real de cada Static Web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Guard-rails do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743200" cy="105156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Branch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005840"/>
            <a:ext cx="8138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staging, hml e main só aceitam merge via Pull Request — nunca push direto. É isso que garante que todo 'push' que dispara o deploy já passou por revisão.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2743200" cy="105156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needs: [backend, frontend]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31720"/>
            <a:ext cx="8138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o job 'deploy' de cada workflow só roda depois que os testes e builds de backend/frontend passarem — falha nos testes bloqueia o 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2743200" cy="105156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GitHub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657600"/>
            <a:ext cx="8138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staging, hml e production têm secrets próprios (AZURE_STATIC_WEB_APPS_API_TOKEN por ambiente); production tem required reviewers, criando o gate de aprovação manual antes do deploy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83480"/>
            <a:ext cx="2743200" cy="1051560"/>
          </a:xfrm>
          <a:prstGeom prst="roundRect">
            <a:avLst/>
          </a:prstGeom>
          <a:solidFill>
            <a:srgbClr val="D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2428"/>
                </a:solidFill>
                <a:latin typeface="Calibri"/>
              </a:rPr>
              <a:t>create-pr automático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983480"/>
            <a:ext cx="8138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ao fim de cada deploy, o workflow abre (se ainda não existir) o PR para a próxima branch do fluxo — staging→hml e hml→main — mantendo a promoção em cadeia.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